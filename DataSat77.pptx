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60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3DD"/>
    <a:srgbClr val="343A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7" autoAdjust="0"/>
  </p:normalViewPr>
  <p:slideViewPr>
    <p:cSldViewPr snapToGrid="0">
      <p:cViewPr varScale="1">
        <p:scale>
          <a:sx n="79" d="100"/>
          <a:sy n="79" d="100"/>
        </p:scale>
        <p:origin x="444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g"/><Relationship Id="rId11" Type="http://schemas.openxmlformats.org/officeDocument/2006/relationships/image" Target="../media/image12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3048000" y="331857"/>
            <a:ext cx="9144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1201AB4-DC9A-F0C7-1288-C29AEA6597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658" y="367926"/>
            <a:ext cx="3944684" cy="129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EE4224-294B-1909-3C29-09DF25610FC7}"/>
              </a:ext>
            </a:extLst>
          </p:cNvPr>
          <p:cNvSpPr txBox="1"/>
          <p:nvPr userDrawn="1"/>
        </p:nvSpPr>
        <p:spPr>
          <a:xfrm>
            <a:off x="8366466" y="663714"/>
            <a:ext cx="38255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4000" b="1" dirty="0">
                <a:solidFill>
                  <a:srgbClr val="0093DD"/>
                </a:solidFill>
              </a:rPr>
              <a:t>#77 PARMA 2025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C3366DE-3117-892F-5AEE-99FC5F31F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4023"/>
          <a:stretch/>
        </p:blipFill>
        <p:spPr>
          <a:xfrm>
            <a:off x="8933415" y="5526025"/>
            <a:ext cx="2691636" cy="628636"/>
          </a:xfrm>
          <a:prstGeom prst="rect">
            <a:avLst/>
          </a:prstGeom>
        </p:spPr>
      </p:pic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5154543"/>
            <a:ext cx="3048000" cy="1371600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75229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8C607A6D-A9F7-3EC8-0F8C-CEB7F8595D3F}"/>
              </a:ext>
            </a:extLst>
          </p:cNvPr>
          <p:cNvSpPr/>
          <p:nvPr userDrawn="1"/>
        </p:nvSpPr>
        <p:spPr>
          <a:xfrm rot="10800000">
            <a:off x="7619997" y="-240417"/>
            <a:ext cx="4571999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74D63D-5A47-53B9-7114-EF71B206E598}"/>
              </a:ext>
            </a:extLst>
          </p:cNvPr>
          <p:cNvSpPr txBox="1"/>
          <p:nvPr userDrawn="1"/>
        </p:nvSpPr>
        <p:spPr>
          <a:xfrm>
            <a:off x="8105536" y="29884"/>
            <a:ext cx="3896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0" dirty="0">
                <a:solidFill>
                  <a:schemeClr val="bg1"/>
                </a:solidFill>
              </a:rPr>
              <a:t>Sponsor &amp; Org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980E98-4A8E-1DD9-29F8-041437439E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39690" y="3301102"/>
            <a:ext cx="3569728" cy="9977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92C070-BBA6-5F33-BC50-7218375906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69735" y="4042816"/>
            <a:ext cx="1985529" cy="948966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E5D4F28-9607-06D6-64CB-BC7397555A6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2275" y="5619848"/>
            <a:ext cx="2867182" cy="686750"/>
          </a:xfrm>
          <a:prstGeom prst="rect">
            <a:avLst/>
          </a:prstGeom>
        </p:spPr>
      </p:pic>
      <p:pic>
        <p:nvPicPr>
          <p:cNvPr id="17" name="Picture 16" descr="A logo with blue dots and black text&#10;&#10;Description automatically generated">
            <a:extLst>
              <a:ext uri="{FF2B5EF4-FFF2-40B4-BE49-F238E27FC236}">
                <a16:creationId xmlns:a16="http://schemas.microsoft.com/office/drawing/2014/main" id="{DD228FB6-73C5-460C-BB2D-AD1B523AC7D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536" y="1491474"/>
            <a:ext cx="3257495" cy="1937526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C8E5850-1EB8-24D5-7D6A-63602B6597E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49101" y="4787602"/>
            <a:ext cx="2520634" cy="1702169"/>
          </a:xfrm>
          <a:prstGeom prst="rect">
            <a:avLst/>
          </a:prstGeom>
        </p:spPr>
      </p:pic>
      <p:pic>
        <p:nvPicPr>
          <p:cNvPr id="4" name="Picture 3" descr="A logo with a hexagon design&#10;&#10;AI-generated content may be incorrect.">
            <a:extLst>
              <a:ext uri="{FF2B5EF4-FFF2-40B4-BE49-F238E27FC236}">
                <a16:creationId xmlns:a16="http://schemas.microsoft.com/office/drawing/2014/main" id="{8376EB12-22F4-8E82-B544-004E1E2F917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75" y="499796"/>
            <a:ext cx="2527432" cy="1530676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5C21413-5D0A-1A1A-88B0-09CB7843E31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75" y="2948872"/>
            <a:ext cx="2508742" cy="1702170"/>
          </a:xfrm>
          <a:prstGeom prst="rect">
            <a:avLst/>
          </a:prstGeom>
        </p:spPr>
      </p:pic>
      <p:pic>
        <p:nvPicPr>
          <p:cNvPr id="16" name="Picture 15" descr="A blue and white logo&#10;&#10;AI-generated content may be incorrect.">
            <a:extLst>
              <a:ext uri="{FF2B5EF4-FFF2-40B4-BE49-F238E27FC236}">
                <a16:creationId xmlns:a16="http://schemas.microsoft.com/office/drawing/2014/main" id="{C7AD09E6-07E2-1CA2-41C5-150DE53DE41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019" y="403532"/>
            <a:ext cx="1723204" cy="172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3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6096000" y="951494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-1112222" y="5069842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-1112222" y="5776847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28521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10539812" y="951495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0" y="5069842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5776847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226F5A7-6E87-0D32-978C-5266BA907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05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10539812" y="951495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0" y="5069842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5776847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B284E8-0555-ABFE-6004-05D404204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226F5A7-6E87-0D32-978C-5266BA907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029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10539812" y="951495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0" y="5069842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5776847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B284E8-0555-ABFE-6004-05D404204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595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B284E8-0555-ABFE-6004-05D404204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226F5A7-6E87-0D32-978C-5266BA907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44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6096000" y="951494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-1112222" y="0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-1112222" y="707005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6546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6096000" y="951494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-1112222" y="0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-1112222" y="707005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6C682C-5523-1B86-BEF8-483C54098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986" y="137069"/>
            <a:ext cx="10296814" cy="8144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80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6096000" y="951494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-1112222" y="0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-1112222" y="707005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C5192-59F8-3E1A-DE70-E3C0A32C2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3095"/>
            <a:ext cx="10515600" cy="38538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6C682C-5523-1B86-BEF8-483C54098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986" y="137069"/>
            <a:ext cx="10296814" cy="8144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643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6096000" y="951494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-1112222" y="0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-1112222" y="707005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C5192-59F8-3E1A-DE70-E3C0A32C2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921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10539812" y="951495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0" y="0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707005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6354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10539812" y="951495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0" y="0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707005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7F5FA3-75BE-4AEA-FC60-8E49B0C79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9208" y="365125"/>
            <a:ext cx="8370604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502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10539812" y="951495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0" y="0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707005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7F5FA3-75BE-4AEA-FC60-8E49B0C79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9208" y="365125"/>
            <a:ext cx="8370604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E4BFC3-3FC7-0545-F528-ECD8BE73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7917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10539812" y="951495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0" y="0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707005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E4BFC3-3FC7-0545-F528-ECD8BE73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510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3048000" y="331857"/>
            <a:ext cx="9144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1201AB4-DC9A-F0C7-1288-C29AEA6597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658" y="367926"/>
            <a:ext cx="3944684" cy="129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EE4224-294B-1909-3C29-09DF25610FC7}"/>
              </a:ext>
            </a:extLst>
          </p:cNvPr>
          <p:cNvSpPr txBox="1"/>
          <p:nvPr userDrawn="1"/>
        </p:nvSpPr>
        <p:spPr>
          <a:xfrm>
            <a:off x="8366466" y="663714"/>
            <a:ext cx="38255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4000" b="1" dirty="0">
                <a:solidFill>
                  <a:srgbClr val="0093DD"/>
                </a:solidFill>
              </a:rPr>
              <a:t>#77 PARMA 2025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5154543"/>
            <a:ext cx="3048000" cy="1371600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B2E943-17C0-A63F-14C1-BDFE359A000C}"/>
              </a:ext>
            </a:extLst>
          </p:cNvPr>
          <p:cNvSpPr txBox="1"/>
          <p:nvPr userDrawn="1"/>
        </p:nvSpPr>
        <p:spPr>
          <a:xfrm>
            <a:off x="4533402" y="2767280"/>
            <a:ext cx="31251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37262D"/>
                </a:solidFill>
                <a:latin typeface="+mn-lt"/>
              </a:rPr>
              <a:t>Grazie!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C3366DE-3117-892F-5AEE-99FC5F31F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4023"/>
          <a:stretch/>
        </p:blipFill>
        <p:spPr>
          <a:xfrm>
            <a:off x="9134406" y="5526025"/>
            <a:ext cx="2691636" cy="62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4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3048000" y="331857"/>
            <a:ext cx="9144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1201AB4-DC9A-F0C7-1288-C29AEA6597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658" y="367926"/>
            <a:ext cx="3944684" cy="129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EE4224-294B-1909-3C29-09DF25610FC7}"/>
              </a:ext>
            </a:extLst>
          </p:cNvPr>
          <p:cNvSpPr txBox="1"/>
          <p:nvPr userDrawn="1"/>
        </p:nvSpPr>
        <p:spPr>
          <a:xfrm>
            <a:off x="8366466" y="663714"/>
            <a:ext cx="38255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4000" b="1" dirty="0">
                <a:solidFill>
                  <a:srgbClr val="0093DD"/>
                </a:solidFill>
              </a:rPr>
              <a:t>#77 PARMA 2025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5154543"/>
            <a:ext cx="3048000" cy="1371600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B2E943-17C0-A63F-14C1-BDFE359A000C}"/>
              </a:ext>
            </a:extLst>
          </p:cNvPr>
          <p:cNvSpPr txBox="1"/>
          <p:nvPr userDrawn="1"/>
        </p:nvSpPr>
        <p:spPr>
          <a:xfrm>
            <a:off x="4364816" y="2767281"/>
            <a:ext cx="34623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37262D"/>
                </a:solidFill>
                <a:latin typeface="+mn-lt"/>
              </a:rPr>
              <a:t>Thanks!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D33EC0-A04C-3E67-2704-BE06AA6228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4023"/>
          <a:stretch/>
        </p:blipFill>
        <p:spPr>
          <a:xfrm>
            <a:off x="9134409" y="5526025"/>
            <a:ext cx="2691636" cy="62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616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286530-6FFC-6310-1803-164D87A0A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9F734-4851-FFAD-B672-8EB63E7F3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9C762-93BF-0790-960E-065727518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47158-1B40-437D-8B6C-F92A5DC50B8F}" type="datetimeFigureOut">
              <a:rPr lang="it-IT" smtClean="0"/>
              <a:t>29/11/2025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CBF99-5E35-3CC1-8404-F8CFF465D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E62D6-EAF5-B333-654B-6F99F095B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7CF59-E865-4AD9-84F9-22996E32F87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752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74" r:id="rId4"/>
    <p:sldLayoutId id="2147483663" r:id="rId5"/>
    <p:sldLayoutId id="2147483675" r:id="rId6"/>
    <p:sldLayoutId id="2147483667" r:id="rId7"/>
    <p:sldLayoutId id="2147483670" r:id="rId8"/>
    <p:sldLayoutId id="2147483672" r:id="rId9"/>
    <p:sldLayoutId id="2147483669" r:id="rId10"/>
    <p:sldLayoutId id="2147483666" r:id="rId11"/>
    <p:sldLayoutId id="2147483671" r:id="rId12"/>
    <p:sldLayoutId id="2147483665" r:id="rId13"/>
    <p:sldLayoutId id="2147483668" r:id="rId14"/>
    <p:sldLayoutId id="2147483673" r:id="rId15"/>
    <p:sldLayoutId id="2147483664" r:id="rId16"/>
    <p:sldLayoutId id="214748367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ssqltips.com/sqlserverauthor/390/andrea-gnemmi/" TargetMode="External"/><Relationship Id="rId2" Type="http://schemas.openxmlformats.org/officeDocument/2006/relationships/hyperlink" Target="mailto:andrea.gnemmi@gmail.com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JPG"/><Relationship Id="rId4" Type="http://schemas.openxmlformats.org/officeDocument/2006/relationships/hyperlink" Target="https://www.linkedin.com/in/andreagnemmi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ighgo.ca/2025/10/22/understanding-the-execution-plan-of-a-hash-join/" TargetMode="External"/><Relationship Id="rId3" Type="http://schemas.openxmlformats.org/officeDocument/2006/relationships/hyperlink" Target="https://www.crunchydata.com/blog/hacking-the-postgres-statistics-tables-for-faster-queries" TargetMode="External"/><Relationship Id="rId7" Type="http://schemas.openxmlformats.org/officeDocument/2006/relationships/hyperlink" Target="https://postgres.ai/blog/20251014-postgres-marathon-2-008" TargetMode="External"/><Relationship Id="rId2" Type="http://schemas.openxmlformats.org/officeDocument/2006/relationships/hyperlink" Target="https://www.postgresql.org/docs/current/sql-explain.html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postgresql.org/docs/current/runtime-config-query.html#RUNTIME-CONFIG-QUERY-ENABLE" TargetMode="External"/><Relationship Id="rId11" Type="http://schemas.openxmlformats.org/officeDocument/2006/relationships/hyperlink" Target="https://www.pgmustard.com/" TargetMode="External"/><Relationship Id="rId5" Type="http://schemas.openxmlformats.org/officeDocument/2006/relationships/hyperlink" Target="https://www.depesz.com/2013/04/16/explaining-the-unexplainable/" TargetMode="External"/><Relationship Id="rId10" Type="http://schemas.openxmlformats.org/officeDocument/2006/relationships/hyperlink" Target="https://explain.depesz.com/" TargetMode="External"/><Relationship Id="rId4" Type="http://schemas.openxmlformats.org/officeDocument/2006/relationships/hyperlink" Target="https://www.cybertec-postgresql.com/en/how-to-interpret-postgresql-explain-analyze-output/" TargetMode="External"/><Relationship Id="rId9" Type="http://schemas.openxmlformats.org/officeDocument/2006/relationships/hyperlink" Target="https://explain.dalibo.com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A0B98-C2EB-C412-7375-DF812D3AFAA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2312609"/>
            <a:ext cx="9144000" cy="1197353"/>
          </a:xfrm>
        </p:spPr>
        <p:txBody>
          <a:bodyPr>
            <a:normAutofit fontScale="90000"/>
          </a:bodyPr>
          <a:lstStyle/>
          <a:p>
            <a:br>
              <a:rPr lang="it-IT" b="1" dirty="0"/>
            </a:br>
            <a:br>
              <a:rPr lang="it-IT" b="1" dirty="0"/>
            </a:br>
            <a:br>
              <a:rPr lang="it-IT" b="1" dirty="0"/>
            </a:br>
            <a:r>
              <a:rPr lang="it-IT" b="1" dirty="0"/>
              <a:t>EXPLAIN come visualizzare e leggere piani di esecuzione in </a:t>
            </a:r>
            <a:r>
              <a:rPr lang="it-IT" b="1" dirty="0" err="1"/>
              <a:t>PostgreSQL</a:t>
            </a:r>
            <a:r>
              <a:rPr lang="it-IT" b="1" dirty="0"/>
              <a:t> </a:t>
            </a:r>
            <a:br>
              <a:rPr lang="it-IT" b="1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4663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864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BD5439-F23A-F131-B90D-651E8EFBA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it-IT" dirty="0">
              <a:hlinkClick r:id="rId2"/>
            </a:endParaRPr>
          </a:p>
          <a:p>
            <a:r>
              <a:rPr lang="en-US" dirty="0"/>
              <a:t>Senior DBA @ </a:t>
            </a:r>
            <a:r>
              <a:rPr lang="en-US" dirty="0" err="1"/>
              <a:t>Logifuture</a:t>
            </a:r>
            <a:endParaRPr lang="en-US" dirty="0"/>
          </a:p>
          <a:p>
            <a:r>
              <a:rPr lang="en-US"/>
              <a:t>“Author”</a:t>
            </a:r>
            <a:endParaRPr lang="en-US" dirty="0"/>
          </a:p>
          <a:p>
            <a:endParaRPr lang="it-IT" sz="2000" dirty="0">
              <a:hlinkClick r:id="rId2"/>
            </a:endParaRPr>
          </a:p>
          <a:p>
            <a:r>
              <a:rPr lang="it-IT" sz="2000" dirty="0">
                <a:hlinkClick r:id="rId2"/>
              </a:rPr>
              <a:t>andrea.gnemmi@gmail.com</a:t>
            </a:r>
            <a:endParaRPr lang="it-IT" sz="2000" dirty="0"/>
          </a:p>
          <a:p>
            <a:r>
              <a:rPr lang="en-US" sz="2000" dirty="0">
                <a:hlinkClick r:id="rId3"/>
              </a:rPr>
              <a:t>https://www.mssqltips.com/sqlserverauthor/390/andrea-gnemmi/</a:t>
            </a:r>
            <a:endParaRPr lang="en-US" sz="2000" dirty="0"/>
          </a:p>
          <a:p>
            <a:r>
              <a:rPr lang="en-US" sz="2000" dirty="0">
                <a:hlinkClick r:id="rId4"/>
              </a:rPr>
              <a:t>https://www.linkedin.com/in/andreagnemmi/</a:t>
            </a:r>
            <a:endParaRPr lang="en-US" sz="2000" dirty="0"/>
          </a:p>
          <a:p>
            <a:endParaRPr lang="en-US" sz="2400" dirty="0"/>
          </a:p>
          <a:p>
            <a:endParaRPr lang="it-IT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4743F70-D502-2464-901F-4F1AEABB1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Who </a:t>
            </a:r>
            <a:r>
              <a:rPr lang="it-IT" dirty="0" err="1"/>
              <a:t>am</a:t>
            </a:r>
            <a:r>
              <a:rPr lang="it-IT" dirty="0"/>
              <a:t> I?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D5B2A4-394A-4250-6595-3E7DAFAB6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0824" y="132640"/>
            <a:ext cx="5194271" cy="346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9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EDB125-A57C-E4B7-D1A9-DA05E34BA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Agenda:</a:t>
            </a:r>
            <a:endParaRPr lang="en-AT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37E9FE-33E4-F5E9-707D-99217EE54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EXPLAIN</a:t>
            </a:r>
          </a:p>
          <a:p>
            <a:r>
              <a:rPr lang="en-US" dirty="0"/>
              <a:t>EXPLAIN ANALYZE</a:t>
            </a:r>
          </a:p>
          <a:p>
            <a:r>
              <a:rPr lang="en-US" dirty="0"/>
              <a:t>Other options: </a:t>
            </a:r>
          </a:p>
          <a:p>
            <a:pPr lvl="1"/>
            <a:r>
              <a:rPr lang="en-US" dirty="0"/>
              <a:t>GENERIC PLAN</a:t>
            </a:r>
          </a:p>
          <a:p>
            <a:pPr lvl="1"/>
            <a:r>
              <a:rPr lang="en-US" dirty="0"/>
              <a:t>BUFFERS (only with EXPLAIN ANALYZE)</a:t>
            </a:r>
          </a:p>
          <a:p>
            <a:pPr lvl="1"/>
            <a:r>
              <a:rPr lang="en-US" dirty="0"/>
              <a:t>WAL</a:t>
            </a:r>
          </a:p>
          <a:p>
            <a:pPr lvl="1"/>
            <a:r>
              <a:rPr lang="en-US" dirty="0"/>
              <a:t>SETTINGS</a:t>
            </a:r>
          </a:p>
          <a:p>
            <a:pPr lvl="1"/>
            <a:r>
              <a:rPr lang="en-US" dirty="0"/>
              <a:t>FORMAT</a:t>
            </a:r>
          </a:p>
          <a:p>
            <a:r>
              <a:rPr lang="en-US" dirty="0"/>
              <a:t>Using </a:t>
            </a:r>
            <a:r>
              <a:rPr lang="en-US" dirty="0" err="1"/>
              <a:t>pgAgent</a:t>
            </a:r>
            <a:endParaRPr lang="en-US" dirty="0"/>
          </a:p>
          <a:p>
            <a:r>
              <a:rPr lang="en-US" dirty="0"/>
              <a:t>New features in PostgreSQL version 18</a:t>
            </a:r>
          </a:p>
          <a:p>
            <a:r>
              <a:rPr lang="en-US" dirty="0"/>
              <a:t>Conclusions and references</a:t>
            </a:r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3394419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305F09-879B-576F-5D0C-63D16490F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</a:t>
            </a:r>
            <a:endParaRPr lang="en-AT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50752A-18AB-351D-E2A5-2B6CE505B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order to obtain the execution plan created by the optimizer in PostgreSQL we have to use the statement EXPLAIN followed by options and the query itself or using other third-party tools in order to visualize it.</a:t>
            </a:r>
          </a:p>
          <a:p>
            <a:r>
              <a:rPr lang="en-US" dirty="0"/>
              <a:t>Sections:</a:t>
            </a:r>
          </a:p>
          <a:p>
            <a:pPr lvl="1"/>
            <a:r>
              <a:rPr lang="en-US" dirty="0"/>
              <a:t>Access Method, Sequential or Index</a:t>
            </a:r>
            <a:endParaRPr lang="en-AT" dirty="0"/>
          </a:p>
          <a:p>
            <a:pPr lvl="1"/>
            <a:r>
              <a:rPr lang="en-US" dirty="0"/>
              <a:t>Join Method, Hash, Nested Loop etc.</a:t>
            </a:r>
            <a:endParaRPr lang="en-AT" dirty="0"/>
          </a:p>
          <a:p>
            <a:pPr lvl="1"/>
            <a:r>
              <a:rPr lang="en-US" dirty="0"/>
              <a:t>Join Type, Join Order</a:t>
            </a:r>
            <a:endParaRPr lang="en-AT" dirty="0"/>
          </a:p>
          <a:p>
            <a:pPr lvl="1"/>
            <a:r>
              <a:rPr lang="en-US" dirty="0"/>
              <a:t>Sort and Aggregates </a:t>
            </a:r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011984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EF390D-51DC-BEA0-0A9D-470C1017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</a:t>
            </a:r>
            <a:endParaRPr lang="en-AT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3210DE-966C-6A1B-6971-287481A37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all this different steps we have numbers that are quoted, these are:</a:t>
            </a:r>
            <a:endParaRPr lang="en-AT" dirty="0"/>
          </a:p>
          <a:p>
            <a:pPr lvl="1"/>
            <a:r>
              <a:rPr lang="en-US" dirty="0"/>
              <a:t>Estimated start-up cost </a:t>
            </a:r>
            <a:endParaRPr lang="en-AT" dirty="0"/>
          </a:p>
          <a:p>
            <a:pPr lvl="1"/>
            <a:r>
              <a:rPr lang="en-US" dirty="0"/>
              <a:t>Estimated total cost </a:t>
            </a:r>
            <a:endParaRPr lang="en-AT" dirty="0"/>
          </a:p>
          <a:p>
            <a:pPr lvl="1"/>
            <a:r>
              <a:rPr lang="en-US" dirty="0"/>
              <a:t>Estimated number of rows output by this plan node </a:t>
            </a:r>
            <a:endParaRPr lang="en-AT" dirty="0"/>
          </a:p>
          <a:p>
            <a:pPr lvl="1"/>
            <a:r>
              <a:rPr lang="en-US" dirty="0"/>
              <a:t>Estimated average width (in bytes) of rows output by this plan node</a:t>
            </a:r>
            <a:endParaRPr lang="en-AT" dirty="0"/>
          </a:p>
          <a:p>
            <a:r>
              <a:rPr lang="en-US" dirty="0"/>
              <a:t>The costs are arbitrary numbers, </a:t>
            </a:r>
            <a:r>
              <a:rPr lang="en-AT" dirty="0"/>
              <a:t>based on </a:t>
            </a:r>
            <a:r>
              <a:rPr lang="en-US" dirty="0"/>
              <a:t>a projected resource usage for a plan, that rely on table statistics, gathered with ANALYZE (or AUTOANALYZE that is automatically run together with AUTOVACUUM) </a:t>
            </a:r>
          </a:p>
          <a:p>
            <a:r>
              <a:rPr lang="en-US" dirty="0"/>
              <a:t>System view </a:t>
            </a:r>
            <a:r>
              <a:rPr lang="en-US" dirty="0" err="1"/>
              <a:t>pg_stats</a:t>
            </a:r>
            <a:r>
              <a:rPr lang="en-US" dirty="0"/>
              <a:t> can be used to see table statistics</a:t>
            </a:r>
          </a:p>
          <a:p>
            <a:r>
              <a:rPr lang="en-US" dirty="0"/>
              <a:t>Costs also rely on config parameters such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seq_page_cost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random_page_cost</a:t>
            </a:r>
            <a:r>
              <a:rPr lang="en-US" dirty="0"/>
              <a:t>, in which we can specify values different than the default, in order to influence the optimizer to choose a plan instead of another (no plan hints in PostgreSQL!)</a:t>
            </a:r>
            <a:endParaRPr lang="en-AT" dirty="0"/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980920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590D37-543B-EFC2-B1A7-60B065F4E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391" y="2676798"/>
            <a:ext cx="10022474" cy="273340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AEE5227-F3E1-D9A9-FBE4-889AAFC5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- demo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3344808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B874C0-C705-9222-8A51-89CCE501D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ANALYZE</a:t>
            </a:r>
            <a:endParaRPr lang="en-AT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6FFB68-A897-E0AD-BC42-104102407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order to obtain the actual execution plan of the query we need to use EXPLAIN ANALYZE, in this case all the numbers are the real ones and not estimations</a:t>
            </a:r>
          </a:p>
          <a:p>
            <a:r>
              <a:rPr lang="en-US" dirty="0"/>
              <a:t>Pay attention if the statement is an INSERT, UPDATE or DELETE because with ANALYZE it will be executed! </a:t>
            </a:r>
          </a:p>
          <a:p>
            <a:r>
              <a:rPr lang="en-US" dirty="0"/>
              <a:t>In order to avoid the effects of executing such statements we can use a small trick, inserting the query in a BEGIN block and then issuing a ROLLBACK</a:t>
            </a:r>
          </a:p>
          <a:p>
            <a:r>
              <a:rPr lang="it-IT" dirty="0"/>
              <a:t>Option BUFFERS </a:t>
            </a:r>
            <a:r>
              <a:rPr lang="it-IT" dirty="0" err="1"/>
              <a:t>needs</a:t>
            </a:r>
            <a:r>
              <a:rPr lang="it-IT" dirty="0"/>
              <a:t> </a:t>
            </a:r>
            <a:r>
              <a:rPr lang="it-IT" dirty="0" err="1"/>
              <a:t>track_io_timing</a:t>
            </a:r>
            <a:r>
              <a:rPr lang="it-IT" dirty="0"/>
              <a:t> </a:t>
            </a:r>
            <a:r>
              <a:rPr lang="it-IT" dirty="0" err="1"/>
              <a:t>enabled</a:t>
            </a:r>
            <a:r>
              <a:rPr lang="it-IT" dirty="0"/>
              <a:t> in </a:t>
            </a:r>
            <a:r>
              <a:rPr lang="it-IT" dirty="0" err="1"/>
              <a:t>order</a:t>
            </a:r>
            <a:r>
              <a:rPr lang="it-IT" dirty="0"/>
              <a:t> to show time </a:t>
            </a:r>
            <a:r>
              <a:rPr lang="it-IT" dirty="0" err="1"/>
              <a:t>spent</a:t>
            </a:r>
            <a:r>
              <a:rPr lang="it-IT" dirty="0"/>
              <a:t> </a:t>
            </a:r>
            <a:r>
              <a:rPr lang="en-US" dirty="0"/>
              <a:t>reading and writing data file blocks, local blocks and temporary file blocks (in milliseconds)</a:t>
            </a:r>
          </a:p>
          <a:p>
            <a:r>
              <a:rPr lang="en-US" dirty="0"/>
              <a:t>Demo</a:t>
            </a:r>
            <a:endParaRPr lang="en-AT" dirty="0"/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4115105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3106CF-0F4E-7CEA-64C4-90A65C82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pgAdmin</a:t>
            </a:r>
            <a:endParaRPr lang="en-AT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C50EA9-3A68-AE07-CB2C-73FC626AC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and EXPLAIN ANALYZE can be run from GUI </a:t>
            </a:r>
            <a:r>
              <a:rPr lang="en-US" dirty="0" err="1"/>
              <a:t>pgAgent</a:t>
            </a:r>
            <a:r>
              <a:rPr lang="en-US" dirty="0"/>
              <a:t> and visualized in a nicer way</a:t>
            </a:r>
          </a:p>
          <a:p>
            <a:r>
              <a:rPr lang="en-US" dirty="0"/>
              <a:t>Using option FORMAT JSON we can visualize plans with </a:t>
            </a:r>
            <a:r>
              <a:rPr lang="en-US" dirty="0" err="1"/>
              <a:t>pgAgent</a:t>
            </a:r>
            <a:r>
              <a:rPr lang="en-US" dirty="0"/>
              <a:t> adding other options</a:t>
            </a:r>
          </a:p>
          <a:p>
            <a:r>
              <a:rPr lang="en-US" dirty="0"/>
              <a:t>Demo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1883262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61F251-E293-B005-DE2B-AE8C66E76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Features in PostgreSQL version 18</a:t>
            </a:r>
            <a:endParaRPr lang="en-AT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801CB5-3567-41ED-8979-791C847A9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 BUFFERS is now default in EXPLAIN ANALYZE (so you have it automatically also in </a:t>
            </a:r>
            <a:r>
              <a:rPr lang="en-US" dirty="0" err="1"/>
              <a:t>pgAdmin</a:t>
            </a:r>
            <a:r>
              <a:rPr lang="en-US" dirty="0"/>
              <a:t>)</a:t>
            </a:r>
          </a:p>
          <a:p>
            <a:r>
              <a:rPr lang="en-US" dirty="0"/>
              <a:t>In verbose mode, CPU, WAL, and average-read statistics are now available.</a:t>
            </a:r>
          </a:p>
          <a:p>
            <a:r>
              <a:rPr lang="en-US" dirty="0"/>
              <a:t>Index searches shows the efficiency of index scans (the lesser the better)</a:t>
            </a:r>
          </a:p>
          <a:p>
            <a:r>
              <a:rPr lang="en-US" dirty="0"/>
              <a:t>When a planner setting is turned off it is now showed, still option settings is better (es.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enable_seqscan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off;)</a:t>
            </a:r>
            <a:endParaRPr lang="en-US" dirty="0"/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3392878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3D94DE-46DB-E77C-063B-A414970BC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 and References</a:t>
            </a:r>
            <a:endParaRPr lang="en-AT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5CE085-D30D-16CB-4C51-1FE256BC0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15330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Official documentation: </a:t>
            </a:r>
            <a:r>
              <a:rPr lang="en-US" dirty="0">
                <a:hlinkClick r:id="rId2"/>
              </a:rPr>
              <a:t>https://www.postgresql.org/docs/current/sql-explain.html</a:t>
            </a:r>
            <a:endParaRPr lang="en-US" dirty="0"/>
          </a:p>
          <a:p>
            <a:r>
              <a:rPr lang="en-US" dirty="0"/>
              <a:t>Table Statistics and how they are used: </a:t>
            </a:r>
            <a:r>
              <a:rPr lang="en-US" dirty="0">
                <a:hlinkClick r:id="rId3"/>
              </a:rPr>
              <a:t>https://www.crunchydata.com/blog/hacking-the-postgres-statistics-tables-for-faster-queries</a:t>
            </a:r>
            <a:endParaRPr lang="en-US" dirty="0"/>
          </a:p>
          <a:p>
            <a:r>
              <a:rPr lang="it-IT" dirty="0"/>
              <a:t>Plan </a:t>
            </a:r>
            <a:r>
              <a:rPr lang="it-IT" dirty="0" err="1"/>
              <a:t>interpretation</a:t>
            </a:r>
            <a:r>
              <a:rPr lang="it-IT" dirty="0"/>
              <a:t>: </a:t>
            </a:r>
          </a:p>
          <a:p>
            <a:pPr lvl="1"/>
            <a:r>
              <a:rPr lang="it-IT" dirty="0">
                <a:hlinkClick r:id="rId4"/>
              </a:rPr>
              <a:t>https://www.cybertec-postgresql.com/en/how-to-interpret-postgresql-explain-analyze-output/</a:t>
            </a:r>
            <a:endParaRPr lang="it-IT" dirty="0"/>
          </a:p>
          <a:p>
            <a:pPr lvl="1"/>
            <a:r>
              <a:rPr lang="it-IT" dirty="0">
                <a:hlinkClick r:id="rId5"/>
              </a:rPr>
              <a:t>https://www.depesz.com/2013/04/16/explaining-the-unexplainable/</a:t>
            </a:r>
            <a:endParaRPr lang="en-US" dirty="0"/>
          </a:p>
          <a:p>
            <a:r>
              <a:rPr lang="en-US" dirty="0"/>
              <a:t>Settings for influencing query plan:</a:t>
            </a:r>
          </a:p>
          <a:p>
            <a:pPr marL="400050" lvl="1" indent="0">
              <a:buNone/>
            </a:pPr>
            <a:r>
              <a:rPr lang="en-US" dirty="0">
                <a:hlinkClick r:id="rId6"/>
              </a:rPr>
              <a:t>https://www.postgresql.org/docs/current/runtime-config-query.html#RUNTIME-CONFIG-QUERY-ENABLE</a:t>
            </a:r>
            <a:endParaRPr lang="en-US" dirty="0"/>
          </a:p>
          <a:p>
            <a:pPr marL="400050" lvl="1" indent="0">
              <a:buNone/>
            </a:pPr>
            <a:r>
              <a:rPr lang="en-US" dirty="0">
                <a:hlinkClick r:id="rId7"/>
              </a:rPr>
              <a:t>https://postgres.ai/blog/20251014-postgres-marathon-2-008</a:t>
            </a:r>
            <a:endParaRPr lang="en-US" dirty="0"/>
          </a:p>
          <a:p>
            <a:pPr marL="285750"/>
            <a:r>
              <a:rPr lang="it-IT" dirty="0" err="1"/>
              <a:t>Hash</a:t>
            </a:r>
            <a:r>
              <a:rPr lang="it-IT" dirty="0"/>
              <a:t> join </a:t>
            </a:r>
            <a:r>
              <a:rPr lang="it-IT" dirty="0" err="1"/>
              <a:t>explanation</a:t>
            </a:r>
            <a:r>
              <a:rPr lang="it-IT" dirty="0"/>
              <a:t>: </a:t>
            </a:r>
            <a:r>
              <a:rPr lang="it-IT" dirty="0">
                <a:hlinkClick r:id="rId8"/>
              </a:rPr>
              <a:t>https://www.highgo.ca/2025/10/22/understanding-the-execution-plan-of-a-hash-join/</a:t>
            </a:r>
            <a:endParaRPr lang="en-US" dirty="0"/>
          </a:p>
          <a:p>
            <a:r>
              <a:rPr lang="en-US" dirty="0"/>
              <a:t>Browser based open source plan visualizers:</a:t>
            </a:r>
          </a:p>
          <a:p>
            <a:pPr lvl="1"/>
            <a:r>
              <a:rPr lang="en-US" dirty="0">
                <a:hlinkClick r:id="rId9"/>
              </a:rPr>
              <a:t>https://explain.dalibo.com/</a:t>
            </a:r>
            <a:endParaRPr lang="en-US" dirty="0"/>
          </a:p>
          <a:p>
            <a:pPr lvl="1"/>
            <a:r>
              <a:rPr lang="en-US" dirty="0">
                <a:hlinkClick r:id="rId10"/>
              </a:rPr>
              <a:t>https://explain.depesz.com/</a:t>
            </a:r>
            <a:endParaRPr lang="en-US" dirty="0"/>
          </a:p>
          <a:p>
            <a:r>
              <a:rPr lang="en-US" dirty="0"/>
              <a:t>Licensed tool:</a:t>
            </a:r>
          </a:p>
          <a:p>
            <a:pPr lvl="1"/>
            <a:r>
              <a:rPr lang="en-US" dirty="0" err="1"/>
              <a:t>pgMustard</a:t>
            </a:r>
            <a:r>
              <a:rPr lang="en-US" dirty="0"/>
              <a:t>: </a:t>
            </a:r>
            <a:r>
              <a:rPr lang="en-US" dirty="0">
                <a:hlinkClick r:id="rId11"/>
              </a:rPr>
              <a:t>https://www.pgmustard.com/</a:t>
            </a:r>
            <a:endParaRPr lang="en-US" dirty="0"/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3213366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3DDF8A-4C13-D04D-A3AA-B703C2363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0" y="2000250"/>
            <a:ext cx="2857500" cy="28575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6F417E8-315E-3BF7-25AE-802BA3A37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Feedback!! </a:t>
            </a:r>
            <a:br>
              <a:rPr lang="en-US" dirty="0"/>
            </a:br>
            <a:r>
              <a:rPr lang="en-US" dirty="0"/>
              <a:t>(don’t shoot the pianist!!!)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735219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293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878E663-3362-45A5-BD9C-9CB4D1515190}" vid="{0BC2F53B-06C3-4843-94C6-D1F6B6A907F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1a4595-c0e5-4437-b525-b140d6ba4fc1" xsi:nil="true"/>
    <lcf76f155ced4ddcb4097134ff3c332f xmlns="066236b4-6a2a-482b-9b6f-bdf9206295c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7330F1BD5C0E44A8B06BFD43F44851" ma:contentTypeVersion="15" ma:contentTypeDescription="Create a new document." ma:contentTypeScope="" ma:versionID="871fcb6e284f321d9f14cef42c19b905">
  <xsd:schema xmlns:xsd="http://www.w3.org/2001/XMLSchema" xmlns:xs="http://www.w3.org/2001/XMLSchema" xmlns:p="http://schemas.microsoft.com/office/2006/metadata/properties" xmlns:ns2="421a4595-c0e5-4437-b525-b140d6ba4fc1" xmlns:ns3="066236b4-6a2a-482b-9b6f-bdf9206295c2" targetNamespace="http://schemas.microsoft.com/office/2006/metadata/properties" ma:root="true" ma:fieldsID="c31aaba9e659f74b606dc5944f08791c" ns2:_="" ns3:_="">
    <xsd:import namespace="421a4595-c0e5-4437-b525-b140d6ba4fc1"/>
    <xsd:import namespace="066236b4-6a2a-482b-9b6f-bdf9206295c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OCR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a4595-c0e5-4437-b525-b140d6ba4fc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c1d641e6-7885-4e18-aa2c-5775c1b582e2}" ma:internalName="TaxCatchAll" ma:showField="CatchAllData" ma:web="421a4595-c0e5-4437-b525-b140d6ba4f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236b4-6a2a-482b-9b6f-bdf9206295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1ce38722-add7-48bd-a994-48c14df249e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BCAE02-D7C3-401D-8E62-3793C04A636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E8628F-6661-4023-88F1-D8ED9893580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824ede97-9619-4c5b-a730-3ec0f5cb7ab1"/>
    <ds:schemaRef ds:uri="421a4595-c0e5-4437-b525-b140d6ba4fc1"/>
    <ds:schemaRef ds:uri="066236b4-6a2a-482b-9b6f-bdf9206295c2"/>
  </ds:schemaRefs>
</ds:datastoreItem>
</file>

<file path=customXml/itemProps3.xml><?xml version="1.0" encoding="utf-8"?>
<ds:datastoreItem xmlns:ds="http://schemas.openxmlformats.org/officeDocument/2006/customXml" ds:itemID="{E3F9A7F3-15B4-4547-AF5B-5165F01F4C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1a4595-c0e5-4437-b525-b140d6ba4fc1"/>
    <ds:schemaRef ds:uri="066236b4-6a2a-482b-9b6f-bdf9206295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DataSat77_Slide_template_25</Template>
  <TotalTime>0</TotalTime>
  <Words>687</Words>
  <Application>Microsoft Office PowerPoint</Application>
  <PresentationFormat>Widescreen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Office Theme</vt:lpstr>
      <vt:lpstr>   EXPLAIN come visualizzare e leggere piani di esecuzione in PostgreSQL  </vt:lpstr>
      <vt:lpstr>PowerPoint Presentation</vt:lpstr>
      <vt:lpstr>Who am I?</vt:lpstr>
      <vt:lpstr>Agenda:</vt:lpstr>
      <vt:lpstr>EXPLAIN</vt:lpstr>
      <vt:lpstr>EXPLAIN</vt:lpstr>
      <vt:lpstr>EXPLAIN - demo</vt:lpstr>
      <vt:lpstr>EXPLAIN ANALYZE</vt:lpstr>
      <vt:lpstr>Using pgAdmin</vt:lpstr>
      <vt:lpstr>New Features in PostgreSQL version 18</vt:lpstr>
      <vt:lpstr>Links and References</vt:lpstr>
      <vt:lpstr>Feedback!!  (don’t shoot the pianist!!!)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Gnemmi</dc:creator>
  <cp:lastModifiedBy>Andrea Gnemmi</cp:lastModifiedBy>
  <cp:revision>6</cp:revision>
  <dcterms:created xsi:type="dcterms:W3CDTF">2025-11-06T15:22:03Z</dcterms:created>
  <dcterms:modified xsi:type="dcterms:W3CDTF">2025-11-29T14:24:04Z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0x010100C27330F1BD5C0E44A8B06BFD43F44851</vt:lpwstr>
  </property>
</Properties>
</file>